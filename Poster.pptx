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3"/>
  </p:sldIdLst>
  <p:sldSz cx="15120000" cy="48960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C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550" autoAdjust="0"/>
    <p:restoredTop sz="94660"/>
  </p:normalViewPr>
  <p:slideViewPr>
    <p:cSldViewPr snapToGrid="0">
      <p:cViewPr>
        <p:scale>
          <a:sx n="50" d="100"/>
          <a:sy n="50" d="100"/>
        </p:scale>
        <p:origin x="144" y="-1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59999" cy="59999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8012685"/>
            <a:ext cx="12851448" cy="17045364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25715383"/>
            <a:ext cx="11339513" cy="11820684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1686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60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12206036"/>
            <a:ext cx="13040439" cy="20366033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32764740"/>
            <a:ext cx="13040439" cy="1071001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/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75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3310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13033357"/>
            <a:ext cx="6425724" cy="310647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13033357"/>
            <a:ext cx="6425724" cy="310647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2871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2606682"/>
            <a:ext cx="13040439" cy="946335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12002025"/>
            <a:ext cx="6396193" cy="5882007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17884032"/>
            <a:ext cx="6396193" cy="263047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12002025"/>
            <a:ext cx="6427693" cy="5882007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17884032"/>
            <a:ext cx="6427693" cy="263047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2027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4837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1206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3264006"/>
            <a:ext cx="4876384" cy="11424021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7049357"/>
            <a:ext cx="7654171" cy="34793396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14688026"/>
            <a:ext cx="4876384" cy="27211386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2393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3264006"/>
            <a:ext cx="4876384" cy="11424021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7049357"/>
            <a:ext cx="7654171" cy="34793396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14688026"/>
            <a:ext cx="4876384" cy="27211386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3164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0653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2606672"/>
            <a:ext cx="3260110" cy="4149141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2606672"/>
            <a:ext cx="9591338" cy="4149141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81778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2606682"/>
            <a:ext cx="13040439" cy="9463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13033357"/>
            <a:ext cx="13040439" cy="31064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45378759"/>
            <a:ext cx="3401854" cy="26066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45378759"/>
            <a:ext cx="5102781" cy="26066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45378759"/>
            <a:ext cx="3401854" cy="26066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5514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.png"/><Relationship Id="rId10" Type="http://schemas.openxmlformats.org/officeDocument/2006/relationships/image" Target="../media/image2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120000" cy="489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120000" cy="566928"/>
          </a:xfrm>
          <a:prstGeom prst="rect">
            <a:avLst/>
          </a:prstGeom>
          <a:solidFill>
            <a:srgbClr val="17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68096" y="155448"/>
            <a:ext cx="9601200" cy="292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unito Sans"/>
              </a:defRPr>
            </a:pPr>
            <a:r>
              <a:t>PEP / EUROPEAN PARLIAMENT POLICY POSTER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33888" y="155448"/>
            <a:ext cx="3794760" cy="292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391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unito Sans"/>
              </a:defRPr>
            </a:pPr>
            <a:r>
              <a:t>ECONOMY &amp; 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792000"/>
            <a:ext cx="13624560" cy="118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352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173A5B"/>
                </a:solidFill>
                <a:latin typeface="Nunito Sans"/>
              </a:defRPr>
            </a:pPr>
            <a:r>
              <a:t>COMPARE THE PRICE.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98000"/>
            <a:ext cx="13624560" cy="118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352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173A5B"/>
                </a:solidFill>
                <a:latin typeface="Nunito Sans"/>
              </a:defRPr>
            </a:pPr>
            <a:r>
              <a:t>WHY NOT THE QUALITY?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3222000"/>
            <a:ext cx="1828800" cy="68580"/>
          </a:xfrm>
          <a:prstGeom prst="rect">
            <a:avLst/>
          </a:prstGeom>
          <a:solidFill>
            <a:srgbClr val="F6B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68096" y="3456000"/>
            <a:ext cx="13624560" cy="79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7AE5"/>
                </a:solidFill>
                <a:latin typeface="Nunito Sans"/>
              </a:defRPr>
            </a:pPr>
            <a:r>
              <a:t>LOGISTICS SERVICE QUALITY &amp; CUSTOMER SATISFACTION</a:t>
            </a:r>
          </a:p>
          <a:p>
            <a:pPr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7AE5"/>
                </a:solidFill>
                <a:latin typeface="Nunito Sans"/>
              </a:defRPr>
            </a:pPr>
            <a:r>
              <a:t>IN LITHUANIAN E-COMMERCE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320000"/>
            <a:ext cx="13624560" cy="3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97A"/>
                </a:solidFill>
                <a:latin typeface="Nunito Sans"/>
              </a:defRPr>
            </a:pPr>
            <a:r>
              <a:t>Chaymae Elkasri / International Business Administration / Lithuania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736592"/>
            <a:ext cx="13761720" cy="3127248"/>
          </a:xfrm>
          <a:prstGeom prst="roundRect">
            <a:avLst>
              <a:gd name="adj" fmla="val 70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85800" y="4736592"/>
            <a:ext cx="109728" cy="3127248"/>
          </a:xfrm>
          <a:prstGeom prst="rect">
            <a:avLst/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051560" y="5010912"/>
            <a:ext cx="8321040" cy="6502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64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3A5B"/>
                </a:solidFill>
                <a:latin typeface="Nunito Sans"/>
              </a:defRPr>
            </a:pPr>
            <a:r>
              <a:t>THE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5769864"/>
            <a:ext cx="7909560" cy="1463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64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3A5B"/>
                </a:solidFill>
                <a:latin typeface="Nunito Sans"/>
              </a:defRPr>
            </a:pPr>
            <a:r>
              <a:t>Delivery prices are easy to compare.</a:t>
            </a:r>
          </a:p>
          <a:p>
            <a:pPr>
              <a:lnSpc>
                <a:spcPts val="3364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3A5B"/>
                </a:solidFill>
                <a:latin typeface="Nunito Sans"/>
              </a:defRPr>
            </a:pPr>
            <a:r>
              <a:t>Service quality should be too.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5294376"/>
            <a:ext cx="16459" cy="2112264"/>
          </a:xfrm>
          <a:prstGeom prst="rect">
            <a:avLst/>
          </a:prstGeom>
          <a:solidFill>
            <a:srgbClr val="D7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9418320" y="5065776"/>
            <a:ext cx="4645152" cy="457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7AE5"/>
                </a:solidFill>
                <a:latin typeface="Nunito Sans"/>
              </a:defRPr>
            </a:pPr>
            <a:r>
              <a:t>WHAT QUALITY INCLUDES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568756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9710928" y="5586984"/>
            <a:ext cx="4261104" cy="438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73A5B"/>
                </a:solidFill>
                <a:latin typeface="Nunito Sans"/>
              </a:defRPr>
            </a:pPr>
            <a:r>
              <a:t>Reliable, on-time delivery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631850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9710928" y="6217920"/>
            <a:ext cx="4261104" cy="438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73A5B"/>
                </a:solidFill>
                <a:latin typeface="Nunito Sans"/>
              </a:defRPr>
            </a:pPr>
            <a:r>
              <a:t>Parcels in good condition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694944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9710928" y="6848856"/>
            <a:ext cx="4261104" cy="438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73A5B"/>
                </a:solidFill>
                <a:latin typeface="Nunito Sans"/>
              </a:defRPr>
            </a:pPr>
            <a:r>
              <a:t>Clear tracking and complaint handling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8101583"/>
            <a:ext cx="13761720" cy="2160000"/>
          </a:xfrm>
          <a:prstGeom prst="roundRect">
            <a:avLst>
              <a:gd name="adj" fmla="val 70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4" name="Rectangle 23"/>
          <p:cNvSpPr/>
          <p:nvPr/>
        </p:nvSpPr>
        <p:spPr>
          <a:xfrm>
            <a:off x="960120" y="8412480"/>
            <a:ext cx="621792" cy="50292"/>
          </a:xfrm>
          <a:prstGeom prst="rect">
            <a:avLst/>
          </a:prstGeom>
          <a:solidFill>
            <a:srgbClr val="F6B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960120" y="8613648"/>
            <a:ext cx="13213080" cy="6502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64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3A5B"/>
                </a:solidFill>
                <a:latin typeface="Nunito Sans"/>
              </a:defRPr>
            </a:pPr>
            <a:r>
              <a:t>THE POLICY OPPORTUNITY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9306000"/>
            <a:ext cx="13149072" cy="9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9445B"/>
                </a:solidFill>
                <a:latin typeface="Nunito Sans"/>
              </a:defRPr>
            </a:pPr>
            <a:r>
              <a:t>EU parcel-delivery rules already support tariff transparency. Build on price information by</a:t>
            </a:r>
          </a:p>
          <a:p>
            <a:pPr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9445B"/>
                </a:solidFill>
                <a:latin typeface="Nunito Sans"/>
              </a:defRPr>
            </a:pPr>
            <a:r>
              <a:t>testing clear, comparable measures of service quality.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10351008"/>
            <a:ext cx="13761720" cy="2057400"/>
          </a:xfrm>
          <a:prstGeom prst="roundRect">
            <a:avLst>
              <a:gd name="adj" fmla="val 7000"/>
            </a:avLst>
          </a:prstGeom>
          <a:solidFill>
            <a:srgbClr val="17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8" name="Rectangle 27"/>
          <p:cNvSpPr/>
          <p:nvPr/>
        </p:nvSpPr>
        <p:spPr>
          <a:xfrm>
            <a:off x="960120" y="10643616"/>
            <a:ext cx="52120" cy="1325880"/>
          </a:xfrm>
          <a:prstGeom prst="rect">
            <a:avLst/>
          </a:prstGeom>
          <a:solidFill>
            <a:srgbClr val="F6B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1252728" y="10548000"/>
            <a:ext cx="12755880" cy="32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defRPr sz="1850" b="1">
                <a:solidFill>
                  <a:srgbClr val="F6BD42"/>
                </a:solidFill>
                <a:latin typeface="Nunito Sans"/>
              </a:defRPr>
            </a:pPr>
            <a:r>
              <a:t>CALL TO 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3584" y="10980000"/>
            <a:ext cx="12783312" cy="64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408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Nunito Sans"/>
              </a:defRPr>
            </a:pPr>
            <a:r>
              <a:t>MAKE DELIVERY QUALITY COMPARABLE.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3584" y="11628000"/>
            <a:ext cx="12783312" cy="72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Nunito Sans"/>
              </a:defRPr>
            </a:pPr>
            <a:r>
              <a:t>Develop and test shared measures of reliability, on-time delivery, parcel condition and complaint</a:t>
            </a:r>
          </a:p>
          <a:p>
            <a:pPr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Nunito Sans"/>
              </a:defRPr>
            </a:pPr>
            <a:r>
              <a:t>handling.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12673584"/>
            <a:ext cx="13761720" cy="3154680"/>
          </a:xfrm>
          <a:prstGeom prst="roundRect">
            <a:avLst>
              <a:gd name="adj" fmla="val 70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950976" y="12883896"/>
            <a:ext cx="13213080" cy="6502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64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3A5B"/>
                </a:solidFill>
                <a:latin typeface="Nunito Sans"/>
              </a:defRPr>
            </a:pPr>
            <a:r>
              <a:t>WHAT COULD CHANGE?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9264" y="13770864"/>
            <a:ext cx="6035040" cy="1490472"/>
          </a:xfrm>
          <a:prstGeom prst="roundRect">
            <a:avLst>
              <a:gd name="adj" fmla="val 7500"/>
            </a:avLst>
          </a:prstGeom>
          <a:solidFill>
            <a:srgbClr val="E3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5" name="Rounded Rectangle 34"/>
          <p:cNvSpPr/>
          <p:nvPr/>
        </p:nvSpPr>
        <p:spPr>
          <a:xfrm>
            <a:off x="7452360" y="13770864"/>
            <a:ext cx="6729984" cy="1490472"/>
          </a:xfrm>
          <a:prstGeom prst="roundRect">
            <a:avLst>
              <a:gd name="adj" fmla="val 7500"/>
            </a:avLst>
          </a:prstGeom>
          <a:solidFill>
            <a:srgbClr val="17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252728" y="14008608"/>
            <a:ext cx="5458968" cy="310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52697A"/>
                </a:solidFill>
                <a:latin typeface="Nunito Sans"/>
              </a:defRPr>
            </a:pPr>
            <a:r>
              <a:t>TODAY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2728" y="14400000"/>
            <a:ext cx="5468112" cy="86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668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A5B"/>
                </a:solidFill>
                <a:latin typeface="Nunito Sans"/>
              </a:defRPr>
            </a:pPr>
            <a:r>
              <a:t>Price + estimated</a:t>
            </a:r>
          </a:p>
          <a:p>
            <a:pPr>
              <a:lnSpc>
                <a:spcPts val="2668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A5B"/>
                </a:solidFill>
                <a:latin typeface="Nunito Sans"/>
              </a:defRPr>
            </a:pPr>
            <a:r>
              <a:t>delivery 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35824" y="14008608"/>
            <a:ext cx="6144768" cy="310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FFFFFF"/>
                </a:solidFill>
                <a:latin typeface="Nunito Sans"/>
              </a:defRPr>
            </a:pPr>
            <a:r>
              <a:t>POSSIBLE FUTURE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35824" y="14400000"/>
            <a:ext cx="6144768" cy="86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668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Nunito Sans"/>
              </a:defRPr>
            </a:pPr>
            <a:r>
              <a:t>Price + comparable</a:t>
            </a:r>
          </a:p>
          <a:p>
            <a:pPr>
              <a:lnSpc>
                <a:spcPts val="2668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Nunito Sans"/>
              </a:defRPr>
            </a:pPr>
            <a:r>
              <a:t>service quality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67728" y="14228064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7004304" y="14273784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69264" y="15408000"/>
            <a:ext cx="13030200" cy="39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97A"/>
                </a:solidFill>
                <a:latin typeface="Nunito Sans"/>
              </a:defRPr>
            </a:pPr>
            <a:r>
              <a:t>Policy concept: shared indicators need clear definitions, fair verification and EU-wide testing.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16102584"/>
            <a:ext cx="13761720" cy="467258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950976" y="16395192"/>
            <a:ext cx="13213080" cy="6502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64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3A5B"/>
                </a:solidFill>
                <a:latin typeface="Nunito Sans"/>
              </a:defRPr>
            </a:pPr>
            <a:r>
              <a:t>LITHUANIA TO EUROPE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" y="17190720"/>
            <a:ext cx="13130784" cy="4754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9445B"/>
                </a:solidFill>
                <a:latin typeface="Nunito Sans"/>
              </a:defRPr>
            </a:pPr>
            <a:r>
              <a:t>Local research to inform a wider European conversation about delivery quality.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7620488"/>
            <a:ext cx="3823696" cy="3090672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5202936" y="17675352"/>
            <a:ext cx="15544" cy="2779776"/>
          </a:xfrm>
          <a:prstGeom prst="rect">
            <a:avLst/>
          </a:prstGeom>
          <a:solidFill>
            <a:srgbClr val="C0D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5486400" y="17556480"/>
            <a:ext cx="8183879" cy="3749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7AE5"/>
                </a:solidFill>
                <a:latin typeface="Nunito Sans"/>
              </a:defRPr>
            </a:pPr>
            <a:r>
              <a:t>FROM EVIDENCE TO ACTION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13832" y="1819656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B9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50" name="TextBox 49"/>
          <p:cNvSpPr txBox="1"/>
          <p:nvPr/>
        </p:nvSpPr>
        <p:spPr>
          <a:xfrm>
            <a:off x="5806440" y="18031968"/>
            <a:ext cx="2286000" cy="44805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7AE5"/>
                </a:solidFill>
                <a:latin typeface="Nunito Sans"/>
              </a:defRPr>
            </a:pPr>
            <a:r>
              <a:t>LISTEN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11896" y="18031968"/>
            <a:ext cx="5358384" cy="5120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29445B"/>
                </a:solidFill>
                <a:latin typeface="Nunito Sans"/>
              </a:defRPr>
            </a:pPr>
            <a:r>
              <a:t>Understand what shoppers value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0" y="18745200"/>
            <a:ext cx="8266175" cy="15544"/>
          </a:xfrm>
          <a:prstGeom prst="rect">
            <a:avLst/>
          </a:prstGeom>
          <a:solidFill>
            <a:srgbClr val="CB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53" name="Rounded Rectangle 52"/>
          <p:cNvSpPr/>
          <p:nvPr/>
        </p:nvSpPr>
        <p:spPr>
          <a:xfrm>
            <a:off x="5513832" y="1898294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B9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54" name="TextBox 53"/>
          <p:cNvSpPr txBox="1"/>
          <p:nvPr/>
        </p:nvSpPr>
        <p:spPr>
          <a:xfrm>
            <a:off x="5806440" y="18818352"/>
            <a:ext cx="2286000" cy="44805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7AE5"/>
                </a:solidFill>
                <a:latin typeface="Nunito Sans"/>
              </a:defRPr>
            </a:pPr>
            <a:r>
              <a:t>MEASURE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11896" y="18818352"/>
            <a:ext cx="5358384" cy="5120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29445B"/>
                </a:solidFill>
                <a:latin typeface="Nunito Sans"/>
              </a:defRPr>
            </a:pPr>
            <a:r>
              <a:t>Define fair, reliable indicators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0" y="19531584"/>
            <a:ext cx="8266175" cy="15544"/>
          </a:xfrm>
          <a:prstGeom prst="rect">
            <a:avLst/>
          </a:prstGeom>
          <a:solidFill>
            <a:srgbClr val="CB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57" name="Rounded Rectangle 56"/>
          <p:cNvSpPr/>
          <p:nvPr/>
        </p:nvSpPr>
        <p:spPr>
          <a:xfrm>
            <a:off x="5513832" y="19769327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B9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58" name="TextBox 57"/>
          <p:cNvSpPr txBox="1"/>
          <p:nvPr/>
        </p:nvSpPr>
        <p:spPr>
          <a:xfrm>
            <a:off x="5806440" y="19604735"/>
            <a:ext cx="2286000" cy="44805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7AE5"/>
                </a:solidFill>
                <a:latin typeface="Nunito Sans"/>
              </a:defRPr>
            </a:pPr>
            <a:r>
              <a:t>COMPARE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11896" y="19604735"/>
            <a:ext cx="5358384" cy="5120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29445B"/>
                </a:solidFill>
                <a:latin typeface="Nunito Sans"/>
              </a:defRPr>
            </a:pPr>
            <a:r>
              <a:t>Test comparable quality information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5800" y="21003768"/>
            <a:ext cx="13761720" cy="3099816"/>
          </a:xfrm>
          <a:prstGeom prst="roundRect">
            <a:avLst>
              <a:gd name="adj" fmla="val 70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61" name="TextBox 60"/>
          <p:cNvSpPr txBox="1"/>
          <p:nvPr/>
        </p:nvSpPr>
        <p:spPr>
          <a:xfrm>
            <a:off x="950976" y="21204936"/>
            <a:ext cx="13213080" cy="6502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64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3A5B"/>
                </a:solidFill>
                <a:latin typeface="Nunito Sans"/>
              </a:defRPr>
            </a:pPr>
            <a:r>
              <a:t>KEY RESEARCH FINDINGS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" y="21991320"/>
            <a:ext cx="13213080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2697A"/>
                </a:solidFill>
                <a:latin typeface="Nunito Sans"/>
              </a:defRPr>
            </a:pPr>
            <a:r>
              <a:t>71 submissions / 60 eligible responses / Return handling: n = 41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976" y="22500000"/>
            <a:ext cx="4005072" cy="79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5104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A7AE5"/>
                </a:solidFill>
                <a:latin typeface="Nunito Sans"/>
              </a:defRPr>
            </a:pPr>
            <a:r>
              <a:t>4.58 / 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0976" y="23328000"/>
            <a:ext cx="4014215" cy="28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A5B"/>
                </a:solidFill>
                <a:latin typeface="Nunito Sans"/>
              </a:defRPr>
            </a:pPr>
            <a:r>
              <a:t>HIGHEST QUALITY RATING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976" y="23688000"/>
            <a:ext cx="4014215" cy="3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Order accuracy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48072" y="22594824"/>
            <a:ext cx="12801" cy="1124712"/>
          </a:xfrm>
          <a:prstGeom prst="rect">
            <a:avLst/>
          </a:prstGeom>
          <a:solidFill>
            <a:srgbClr val="DB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5340096" y="22500000"/>
            <a:ext cx="4005072" cy="79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5104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A7AE5"/>
                </a:solidFill>
                <a:latin typeface="Nunito Sans"/>
              </a:defRPr>
            </a:pPr>
            <a:r>
              <a:t>r = .586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40096" y="23328000"/>
            <a:ext cx="4014215" cy="28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A5B"/>
                </a:solidFill>
                <a:latin typeface="Nunito Sans"/>
              </a:defRPr>
            </a:pPr>
            <a:r>
              <a:t>STRONGEST LINK, n = 60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40096" y="23688000"/>
            <a:ext cx="4014215" cy="3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Communication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37192" y="22594824"/>
            <a:ext cx="12801" cy="1124712"/>
          </a:xfrm>
          <a:prstGeom prst="rect">
            <a:avLst/>
          </a:prstGeom>
          <a:solidFill>
            <a:srgbClr val="DB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9729216" y="22500000"/>
            <a:ext cx="4005072" cy="79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5104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A7AE5"/>
                </a:solidFill>
                <a:latin typeface="Nunito Sans"/>
              </a:defRPr>
            </a:pPr>
            <a:r>
              <a:t>78.3%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29216" y="23328000"/>
            <a:ext cx="4014215" cy="28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A5B"/>
                </a:solidFill>
                <a:latin typeface="Nunito Sans"/>
              </a:defRPr>
            </a:pPr>
            <a:r>
              <a:t>TOP THREE PRIORITIES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29216" y="23688000"/>
            <a:ext cx="4014215" cy="3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Speed, reliability, condition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0976" y="24359616"/>
            <a:ext cx="13213080" cy="6502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64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3A5B"/>
                </a:solidFill>
                <a:latin typeface="Nunito Sans"/>
              </a:defRPr>
            </a:pPr>
            <a:r>
              <a:t>THE SURVEY EVIDENCE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31520" y="25255728"/>
            <a:ext cx="6665976" cy="6053328"/>
          </a:xfrm>
          <a:prstGeom prst="roundRect">
            <a:avLst>
              <a:gd name="adj" fmla="val 75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76" name="Rounded Rectangle 75"/>
          <p:cNvSpPr/>
          <p:nvPr/>
        </p:nvSpPr>
        <p:spPr>
          <a:xfrm>
            <a:off x="7644383" y="25255728"/>
            <a:ext cx="6739128" cy="6053328"/>
          </a:xfrm>
          <a:prstGeom prst="roundRect">
            <a:avLst>
              <a:gd name="adj" fmla="val 75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77" name="TextBox 76"/>
          <p:cNvSpPr txBox="1"/>
          <p:nvPr/>
        </p:nvSpPr>
        <p:spPr>
          <a:xfrm>
            <a:off x="950976" y="25484328"/>
            <a:ext cx="6227064" cy="5669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15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3A5B"/>
                </a:solidFill>
                <a:latin typeface="Nunito Sans"/>
              </a:defRPr>
            </a:pPr>
            <a:r>
              <a:t>QUALITY RATING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3544" y="26389584"/>
            <a:ext cx="2761488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Order accuracy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749039" y="26508456"/>
            <a:ext cx="2496312" cy="164592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0" name="Rounded Rectangle 79"/>
          <p:cNvSpPr/>
          <p:nvPr/>
        </p:nvSpPr>
        <p:spPr>
          <a:xfrm>
            <a:off x="3749039" y="26508456"/>
            <a:ext cx="2284125" cy="164592"/>
          </a:xfrm>
          <a:prstGeom prst="roundRect">
            <a:avLst>
              <a:gd name="adj" fmla="val 50000"/>
            </a:avLst>
          </a:prstGeom>
          <a:solidFill>
            <a:srgbClr val="17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1" name="TextBox 80"/>
          <p:cNvSpPr txBox="1"/>
          <p:nvPr/>
        </p:nvSpPr>
        <p:spPr>
          <a:xfrm>
            <a:off x="6391656" y="26389584"/>
            <a:ext cx="905256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4.58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23544" y="27157680"/>
            <a:ext cx="2761488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Product condition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749039" y="27276552"/>
            <a:ext cx="2496312" cy="164592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4" name="Rounded Rectangle 83"/>
          <p:cNvSpPr/>
          <p:nvPr/>
        </p:nvSpPr>
        <p:spPr>
          <a:xfrm>
            <a:off x="3749039" y="27276552"/>
            <a:ext cx="2188433" cy="164592"/>
          </a:xfrm>
          <a:prstGeom prst="roundRect">
            <a:avLst>
              <a:gd name="adj" fmla="val 50000"/>
            </a:avLst>
          </a:prstGeom>
          <a:solidFill>
            <a:srgbClr val="17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5" name="TextBox 84"/>
          <p:cNvSpPr txBox="1"/>
          <p:nvPr/>
        </p:nvSpPr>
        <p:spPr>
          <a:xfrm>
            <a:off x="6391656" y="27157680"/>
            <a:ext cx="905256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4.38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23544" y="27925776"/>
            <a:ext cx="2761488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Communication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749039" y="28044648"/>
            <a:ext cx="2496312" cy="164592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8" name="Rounded Rectangle 87"/>
          <p:cNvSpPr/>
          <p:nvPr/>
        </p:nvSpPr>
        <p:spPr>
          <a:xfrm>
            <a:off x="3749039" y="28044648"/>
            <a:ext cx="2175951" cy="164592"/>
          </a:xfrm>
          <a:prstGeom prst="roundRect">
            <a:avLst>
              <a:gd name="adj" fmla="val 50000"/>
            </a:avLst>
          </a:prstGeom>
          <a:solidFill>
            <a:srgbClr val="17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9" name="TextBox 88"/>
          <p:cNvSpPr txBox="1"/>
          <p:nvPr/>
        </p:nvSpPr>
        <p:spPr>
          <a:xfrm>
            <a:off x="6391656" y="27925776"/>
            <a:ext cx="905256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4.36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23544" y="28693872"/>
            <a:ext cx="2761488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Reliability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749039" y="28812744"/>
            <a:ext cx="2496312" cy="164592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92" name="Rounded Rectangle 91"/>
          <p:cNvSpPr/>
          <p:nvPr/>
        </p:nvSpPr>
        <p:spPr>
          <a:xfrm>
            <a:off x="3749039" y="28812744"/>
            <a:ext cx="2117704" cy="164592"/>
          </a:xfrm>
          <a:prstGeom prst="roundRect">
            <a:avLst>
              <a:gd name="adj" fmla="val 50000"/>
            </a:avLst>
          </a:prstGeom>
          <a:solidFill>
            <a:srgbClr val="17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93" name="TextBox 92"/>
          <p:cNvSpPr txBox="1"/>
          <p:nvPr/>
        </p:nvSpPr>
        <p:spPr>
          <a:xfrm>
            <a:off x="6391656" y="28693872"/>
            <a:ext cx="905256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4.24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23544" y="29461968"/>
            <a:ext cx="2761488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Delivery speed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749039" y="29580840"/>
            <a:ext cx="2496312" cy="164592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96" name="Rounded Rectangle 95"/>
          <p:cNvSpPr/>
          <p:nvPr/>
        </p:nvSpPr>
        <p:spPr>
          <a:xfrm>
            <a:off x="3749039" y="29580840"/>
            <a:ext cx="1947123" cy="164592"/>
          </a:xfrm>
          <a:prstGeom prst="roundRect">
            <a:avLst>
              <a:gd name="adj" fmla="val 50000"/>
            </a:avLst>
          </a:prstGeom>
          <a:solidFill>
            <a:srgbClr val="17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97" name="TextBox 96"/>
          <p:cNvSpPr txBox="1"/>
          <p:nvPr/>
        </p:nvSpPr>
        <p:spPr>
          <a:xfrm>
            <a:off x="6391656" y="29461968"/>
            <a:ext cx="905256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3.90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23544" y="30230064"/>
            <a:ext cx="2761488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Return handling*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3749039" y="30348936"/>
            <a:ext cx="2496312" cy="164592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00" name="Rounded Rectangle 99"/>
          <p:cNvSpPr/>
          <p:nvPr/>
        </p:nvSpPr>
        <p:spPr>
          <a:xfrm>
            <a:off x="3749039" y="30348936"/>
            <a:ext cx="1528230" cy="164592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01" name="TextBox 100"/>
          <p:cNvSpPr txBox="1"/>
          <p:nvPr/>
        </p:nvSpPr>
        <p:spPr>
          <a:xfrm>
            <a:off x="6391656" y="30230064"/>
            <a:ext cx="905256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3.06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863840" y="25484328"/>
            <a:ext cx="6300216" cy="5669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15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3A5B"/>
                </a:solidFill>
                <a:latin typeface="Nunito Sans"/>
              </a:defRPr>
            </a:pPr>
            <a:r>
              <a:t>LINK TO SATISFACTION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836408" y="26389584"/>
            <a:ext cx="2761488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Return handling*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0661904" y="26508456"/>
            <a:ext cx="2569464" cy="164592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05" name="Rounded Rectangle 104"/>
          <p:cNvSpPr/>
          <p:nvPr/>
        </p:nvSpPr>
        <p:spPr>
          <a:xfrm>
            <a:off x="10661904" y="26508456"/>
            <a:ext cx="1533303" cy="164592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06" name="TextBox 105"/>
          <p:cNvSpPr txBox="1"/>
          <p:nvPr/>
        </p:nvSpPr>
        <p:spPr>
          <a:xfrm>
            <a:off x="13377672" y="26389584"/>
            <a:ext cx="905256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0.597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836408" y="27157680"/>
            <a:ext cx="2761488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Communication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0661904" y="27276552"/>
            <a:ext cx="2569464" cy="164592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09" name="Rounded Rectangle 108"/>
          <p:cNvSpPr/>
          <p:nvPr/>
        </p:nvSpPr>
        <p:spPr>
          <a:xfrm>
            <a:off x="10661904" y="27276552"/>
            <a:ext cx="1504616" cy="164592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0" name="TextBox 109"/>
          <p:cNvSpPr txBox="1"/>
          <p:nvPr/>
        </p:nvSpPr>
        <p:spPr>
          <a:xfrm>
            <a:off x="13377672" y="27157680"/>
            <a:ext cx="905256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0.586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836408" y="27925776"/>
            <a:ext cx="2761488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Product condition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0661904" y="28044648"/>
            <a:ext cx="2569464" cy="164592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3" name="Rounded Rectangle 112"/>
          <p:cNvSpPr/>
          <p:nvPr/>
        </p:nvSpPr>
        <p:spPr>
          <a:xfrm>
            <a:off x="10661904" y="28044648"/>
            <a:ext cx="1317748" cy="164592"/>
          </a:xfrm>
          <a:prstGeom prst="roundRect">
            <a:avLst>
              <a:gd name="adj" fmla="val 50000"/>
            </a:avLst>
          </a:prstGeom>
          <a:solidFill>
            <a:srgbClr val="17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4" name="TextBox 113"/>
          <p:cNvSpPr txBox="1"/>
          <p:nvPr/>
        </p:nvSpPr>
        <p:spPr>
          <a:xfrm>
            <a:off x="13377672" y="27925776"/>
            <a:ext cx="905256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0.513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836408" y="28693872"/>
            <a:ext cx="2761488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Reliability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0661904" y="28812744"/>
            <a:ext cx="2569464" cy="164592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7" name="Rounded Rectangle 116"/>
          <p:cNvSpPr/>
          <p:nvPr/>
        </p:nvSpPr>
        <p:spPr>
          <a:xfrm>
            <a:off x="10661904" y="28812744"/>
            <a:ext cx="1281032" cy="164592"/>
          </a:xfrm>
          <a:prstGeom prst="roundRect">
            <a:avLst>
              <a:gd name="adj" fmla="val 50000"/>
            </a:avLst>
          </a:prstGeom>
          <a:solidFill>
            <a:srgbClr val="17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8" name="TextBox 117"/>
          <p:cNvSpPr txBox="1"/>
          <p:nvPr/>
        </p:nvSpPr>
        <p:spPr>
          <a:xfrm>
            <a:off x="13377672" y="28693872"/>
            <a:ext cx="905256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0.499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836408" y="29461968"/>
            <a:ext cx="2761488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Delivery speed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0661904" y="29580840"/>
            <a:ext cx="2569464" cy="164592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21" name="Rounded Rectangle 120"/>
          <p:cNvSpPr/>
          <p:nvPr/>
        </p:nvSpPr>
        <p:spPr>
          <a:xfrm>
            <a:off x="10661904" y="29580840"/>
            <a:ext cx="1264730" cy="164592"/>
          </a:xfrm>
          <a:prstGeom prst="roundRect">
            <a:avLst>
              <a:gd name="adj" fmla="val 50000"/>
            </a:avLst>
          </a:prstGeom>
          <a:solidFill>
            <a:srgbClr val="17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22" name="TextBox 121"/>
          <p:cNvSpPr txBox="1"/>
          <p:nvPr/>
        </p:nvSpPr>
        <p:spPr>
          <a:xfrm>
            <a:off x="13377672" y="29461968"/>
            <a:ext cx="905256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0.492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836408" y="30230064"/>
            <a:ext cx="2761488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Order accuracy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0661904" y="30348936"/>
            <a:ext cx="2569464" cy="164592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25" name="Rounded Rectangle 124"/>
          <p:cNvSpPr/>
          <p:nvPr/>
        </p:nvSpPr>
        <p:spPr>
          <a:xfrm>
            <a:off x="10661904" y="30348936"/>
            <a:ext cx="1205396" cy="164592"/>
          </a:xfrm>
          <a:prstGeom prst="roundRect">
            <a:avLst>
              <a:gd name="adj" fmla="val 50000"/>
            </a:avLst>
          </a:prstGeom>
          <a:solidFill>
            <a:srgbClr val="17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26" name="TextBox 125"/>
          <p:cNvSpPr txBox="1"/>
          <p:nvPr/>
        </p:nvSpPr>
        <p:spPr>
          <a:xfrm>
            <a:off x="13377672" y="30230064"/>
            <a:ext cx="905256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0.469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731520" y="31537656"/>
            <a:ext cx="13651992" cy="5907024"/>
          </a:xfrm>
          <a:prstGeom prst="roundRect">
            <a:avLst>
              <a:gd name="adj" fmla="val 75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28" name="TextBox 127"/>
          <p:cNvSpPr txBox="1"/>
          <p:nvPr/>
        </p:nvSpPr>
        <p:spPr>
          <a:xfrm>
            <a:off x="978408" y="31680000"/>
            <a:ext cx="12966192" cy="68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64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3A5B"/>
                </a:solidFill>
                <a:latin typeface="Nunito Sans"/>
              </a:defRPr>
            </a:pPr>
            <a:r>
              <a:t>WHAT SHOPPERS PRIORITISE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69264" y="32662368"/>
            <a:ext cx="5102352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9445B"/>
                </a:solidFill>
                <a:latin typeface="Nunito Sans"/>
              </a:defRPr>
            </a:pPr>
            <a:r>
              <a:t>Delivery speed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912864" y="32799527"/>
            <a:ext cx="4690872" cy="173736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31" name="Rounded Rectangle 130"/>
          <p:cNvSpPr/>
          <p:nvPr/>
        </p:nvSpPr>
        <p:spPr>
          <a:xfrm>
            <a:off x="6912864" y="32799527"/>
            <a:ext cx="3713606" cy="173736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32" name="TextBox 131"/>
          <p:cNvSpPr txBox="1"/>
          <p:nvPr/>
        </p:nvSpPr>
        <p:spPr>
          <a:xfrm>
            <a:off x="11841480" y="32662368"/>
            <a:ext cx="2011680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3A5B"/>
                </a:solidFill>
                <a:latin typeface="Nunito Sans"/>
              </a:defRPr>
            </a:pPr>
            <a:r>
              <a:t>31.7%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69264" y="33412176"/>
            <a:ext cx="5102352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9445B"/>
                </a:solidFill>
                <a:latin typeface="Nunito Sans"/>
              </a:defRPr>
            </a:pPr>
            <a:r>
              <a:t>Reliability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912864" y="33549335"/>
            <a:ext cx="4690872" cy="173736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35" name="Rounded Rectangle 134"/>
          <p:cNvSpPr/>
          <p:nvPr/>
        </p:nvSpPr>
        <p:spPr>
          <a:xfrm>
            <a:off x="6912864" y="33549335"/>
            <a:ext cx="3127248" cy="173736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36" name="TextBox 135"/>
          <p:cNvSpPr txBox="1"/>
          <p:nvPr/>
        </p:nvSpPr>
        <p:spPr>
          <a:xfrm>
            <a:off x="11841480" y="33412176"/>
            <a:ext cx="2011680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3A5B"/>
                </a:solidFill>
                <a:latin typeface="Nunito Sans"/>
              </a:defRPr>
            </a:pPr>
            <a:r>
              <a:t>26.7%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69264" y="34161984"/>
            <a:ext cx="5102352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9445B"/>
                </a:solidFill>
                <a:latin typeface="Nunito Sans"/>
              </a:defRPr>
            </a:pPr>
            <a:r>
              <a:t>Product condition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912864" y="34299144"/>
            <a:ext cx="4690872" cy="173736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39" name="Rounded Rectangle 138"/>
          <p:cNvSpPr/>
          <p:nvPr/>
        </p:nvSpPr>
        <p:spPr>
          <a:xfrm>
            <a:off x="6912864" y="34299144"/>
            <a:ext cx="2345436" cy="173736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40" name="TextBox 139"/>
          <p:cNvSpPr txBox="1"/>
          <p:nvPr/>
        </p:nvSpPr>
        <p:spPr>
          <a:xfrm>
            <a:off x="11841480" y="34161984"/>
            <a:ext cx="2011680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3A5B"/>
                </a:solidFill>
                <a:latin typeface="Nunito Sans"/>
              </a:defRPr>
            </a:pPr>
            <a:r>
              <a:t>20.0%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69264" y="34911792"/>
            <a:ext cx="5102352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9445B"/>
                </a:solidFill>
                <a:latin typeface="Nunito Sans"/>
              </a:defRPr>
            </a:pPr>
            <a:r>
              <a:t>Order accuracy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6912864" y="35048952"/>
            <a:ext cx="4690872" cy="173736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43" name="Rounded Rectangle 142"/>
          <p:cNvSpPr/>
          <p:nvPr/>
        </p:nvSpPr>
        <p:spPr>
          <a:xfrm>
            <a:off x="6912864" y="35048952"/>
            <a:ext cx="1172718" cy="173736"/>
          </a:xfrm>
          <a:prstGeom prst="roundRect">
            <a:avLst>
              <a:gd name="adj" fmla="val 50000"/>
            </a:avLst>
          </a:prstGeom>
          <a:solidFill>
            <a:srgbClr val="17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44" name="TextBox 143"/>
          <p:cNvSpPr txBox="1"/>
          <p:nvPr/>
        </p:nvSpPr>
        <p:spPr>
          <a:xfrm>
            <a:off x="11841480" y="34911792"/>
            <a:ext cx="2011680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3A5B"/>
                </a:solidFill>
                <a:latin typeface="Nunito Sans"/>
              </a:defRPr>
            </a:pPr>
            <a:r>
              <a:t>10.0%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69264" y="35661600"/>
            <a:ext cx="5102352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9445B"/>
                </a:solidFill>
                <a:latin typeface="Nunito Sans"/>
              </a:defRPr>
            </a:pPr>
            <a:r>
              <a:t>Communication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912864" y="35798760"/>
            <a:ext cx="4690872" cy="173736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47" name="Rounded Rectangle 146"/>
          <p:cNvSpPr/>
          <p:nvPr/>
        </p:nvSpPr>
        <p:spPr>
          <a:xfrm>
            <a:off x="6912864" y="35798760"/>
            <a:ext cx="1172718" cy="173736"/>
          </a:xfrm>
          <a:prstGeom prst="roundRect">
            <a:avLst>
              <a:gd name="adj" fmla="val 50000"/>
            </a:avLst>
          </a:prstGeom>
          <a:solidFill>
            <a:srgbClr val="17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48" name="TextBox 147"/>
          <p:cNvSpPr txBox="1"/>
          <p:nvPr/>
        </p:nvSpPr>
        <p:spPr>
          <a:xfrm>
            <a:off x="11841480" y="35661600"/>
            <a:ext cx="2011680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3A5B"/>
                </a:solidFill>
                <a:latin typeface="Nunito Sans"/>
              </a:defRPr>
            </a:pPr>
            <a:r>
              <a:t>10.0%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69264" y="36411408"/>
            <a:ext cx="5102352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9445B"/>
                </a:solidFill>
                <a:latin typeface="Nunito Sans"/>
              </a:defRPr>
            </a:pPr>
            <a:r>
              <a:t>Return handling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912864" y="36548568"/>
            <a:ext cx="4690872" cy="173736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51" name="Rounded Rectangle 150"/>
          <p:cNvSpPr/>
          <p:nvPr/>
        </p:nvSpPr>
        <p:spPr>
          <a:xfrm>
            <a:off x="6912864" y="36548568"/>
            <a:ext cx="195453" cy="173736"/>
          </a:xfrm>
          <a:prstGeom prst="roundRect">
            <a:avLst>
              <a:gd name="adj" fmla="val 50000"/>
            </a:avLst>
          </a:prstGeom>
          <a:solidFill>
            <a:srgbClr val="17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52" name="TextBox 151"/>
          <p:cNvSpPr txBox="1"/>
          <p:nvPr/>
        </p:nvSpPr>
        <p:spPr>
          <a:xfrm>
            <a:off x="11841480" y="36411408"/>
            <a:ext cx="2011680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3A5B"/>
                </a:solidFill>
                <a:latin typeface="Nunito Sans"/>
              </a:defRPr>
            </a:pPr>
            <a:r>
              <a:t>1.7%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32688" y="37548000"/>
            <a:ext cx="13258800" cy="54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97A"/>
                </a:solidFill>
                <a:latin typeface="Nunito Sans"/>
              </a:defRPr>
            </a:pPr>
            <a:r>
              <a:t>* Return handling: 41 complete paired responses; all other dimensions: 60. Correlation indicates association, not causation.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85800" y="38203632"/>
            <a:ext cx="13761720" cy="2468880"/>
          </a:xfrm>
          <a:prstGeom prst="roundRect">
            <a:avLst>
              <a:gd name="adj" fmla="val 7500"/>
            </a:avLst>
          </a:prstGeom>
          <a:solidFill>
            <a:srgbClr val="17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55" name="TextBox 154"/>
          <p:cNvSpPr txBox="1"/>
          <p:nvPr/>
        </p:nvSpPr>
        <p:spPr>
          <a:xfrm>
            <a:off x="950976" y="38432232"/>
            <a:ext cx="13213080" cy="6502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64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Nunito Sans"/>
              </a:defRPr>
            </a:pPr>
            <a:r>
              <a:t>POTENTIAL BENEFITS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60120" y="39383208"/>
            <a:ext cx="3063240" cy="8321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Nunito Sans"/>
              </a:defRPr>
            </a:pPr>
            <a:r>
              <a:t>BETTER</a:t>
            </a:r>
          </a:p>
          <a:p>
            <a:pPr>
              <a:lnSpc>
                <a:spcPts val="2436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Nunito Sans"/>
              </a:defRPr>
            </a:pPr>
            <a:r>
              <a:t>INFORMATION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160520" y="39383208"/>
            <a:ext cx="10972" cy="868680"/>
          </a:xfrm>
          <a:prstGeom prst="rect">
            <a:avLst/>
          </a:prstGeom>
          <a:solidFill>
            <a:srgbClr val="6B9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58" name="TextBox 157"/>
          <p:cNvSpPr txBox="1"/>
          <p:nvPr/>
        </p:nvSpPr>
        <p:spPr>
          <a:xfrm>
            <a:off x="4325112" y="39383208"/>
            <a:ext cx="3063240" cy="8321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Nunito Sans"/>
              </a:defRPr>
            </a:pPr>
            <a:r>
              <a:t>COMPETITION</a:t>
            </a:r>
          </a:p>
          <a:p>
            <a:pPr>
              <a:lnSpc>
                <a:spcPts val="2436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Nunito Sans"/>
              </a:defRPr>
            </a:pPr>
            <a:r>
              <a:t>ON QUALITY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525512" y="39383208"/>
            <a:ext cx="10972" cy="868680"/>
          </a:xfrm>
          <a:prstGeom prst="rect">
            <a:avLst/>
          </a:prstGeom>
          <a:solidFill>
            <a:srgbClr val="6B9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60" name="TextBox 159"/>
          <p:cNvSpPr txBox="1"/>
          <p:nvPr/>
        </p:nvSpPr>
        <p:spPr>
          <a:xfrm>
            <a:off x="7690104" y="39383208"/>
            <a:ext cx="3063240" cy="8321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Nunito Sans"/>
              </a:defRPr>
            </a:pPr>
            <a:r>
              <a:t>CLEARER</a:t>
            </a:r>
          </a:p>
          <a:p>
            <a:pPr>
              <a:lnSpc>
                <a:spcPts val="2436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Nunito Sans"/>
              </a:defRPr>
            </a:pPr>
            <a:r>
              <a:t>STANDARDS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890504" y="39383208"/>
            <a:ext cx="10972" cy="868680"/>
          </a:xfrm>
          <a:prstGeom prst="rect">
            <a:avLst/>
          </a:prstGeom>
          <a:solidFill>
            <a:srgbClr val="6B9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62" name="TextBox 161"/>
          <p:cNvSpPr txBox="1"/>
          <p:nvPr/>
        </p:nvSpPr>
        <p:spPr>
          <a:xfrm>
            <a:off x="11055096" y="39383208"/>
            <a:ext cx="3063240" cy="8321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Nunito Sans"/>
              </a:defRPr>
            </a:pPr>
            <a:r>
              <a:t>CROSS-BORDER</a:t>
            </a:r>
          </a:p>
          <a:p>
            <a:pPr>
              <a:lnSpc>
                <a:spcPts val="2436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Nunito Sans"/>
              </a:defRPr>
            </a:pPr>
            <a:r>
              <a:t>COMPARABILITY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685800" y="40910256"/>
            <a:ext cx="13761720" cy="28254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64" name="TextBox 163"/>
          <p:cNvSpPr txBox="1"/>
          <p:nvPr/>
        </p:nvSpPr>
        <p:spPr>
          <a:xfrm>
            <a:off x="950976" y="41148000"/>
            <a:ext cx="13213080" cy="6502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64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3A5B"/>
                </a:solidFill>
                <a:latin typeface="Nunito Sans"/>
              </a:defRPr>
            </a:pPr>
            <a:r>
              <a:t>METHOD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960120" y="41904000"/>
            <a:ext cx="13194792" cy="158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9445B"/>
                </a:solidFill>
                <a:latin typeface="Nunito Sans"/>
              </a:defRPr>
            </a:pPr>
            <a:r>
              <a:t>Cross-sectional online survey using convenience sampling. Participants had received an online-purchase</a:t>
            </a:r>
          </a:p>
          <a:p>
            <a:pPr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9445B"/>
                </a:solidFill>
                <a:latin typeface="Nunito Sans"/>
              </a:defRPr>
            </a:pPr>
            <a:r>
              <a:t>delivery in Lithuania in the previous six months. Six quality dimensions used paired five-point items;</a:t>
            </a:r>
          </a:p>
          <a:p>
            <a:pPr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9445B"/>
                </a:solidFill>
                <a:latin typeface="Nunito Sans"/>
              </a:defRPr>
            </a:pPr>
            <a:r>
              <a:t>satisfaction used four items. Analysis: descriptive statistics and Pearson correlations.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685800" y="43955208"/>
            <a:ext cx="13761720" cy="1472184"/>
          </a:xfrm>
          <a:prstGeom prst="roundRect">
            <a:avLst>
              <a:gd name="adj" fmla="val 7000"/>
            </a:avLst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67" name="TextBox 166"/>
          <p:cNvSpPr txBox="1"/>
          <p:nvPr/>
        </p:nvSpPr>
        <p:spPr>
          <a:xfrm>
            <a:off x="941832" y="44211240"/>
            <a:ext cx="3096000" cy="72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READ WITH CAUTION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356000" y="44172000"/>
            <a:ext cx="9612000" cy="104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Small, non-random sample (n = 60), below the planned 100–200. Findings are not</a:t>
            </a:r>
          </a:p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representative of Lithuania or the EU and cannot establish causation.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85800" y="45628560"/>
            <a:ext cx="13761720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70" name="TextBox 169"/>
          <p:cNvSpPr txBox="1"/>
          <p:nvPr/>
        </p:nvSpPr>
        <p:spPr>
          <a:xfrm>
            <a:off x="941832" y="45802296"/>
            <a:ext cx="3026664" cy="8046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EU POLICY</a:t>
            </a:r>
          </a:p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CONTEXT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096512" y="45792000"/>
            <a:ext cx="9957816" cy="93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Regulation (EU) 2018/644 addresses cross-border parcel delivery, including tariff</a:t>
            </a:r>
          </a:p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transparency. Quality indicators remain a proposal for testing.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0" y="47055024"/>
            <a:ext cx="15120000" cy="1904400"/>
          </a:xfrm>
          <a:prstGeom prst="rect">
            <a:avLst/>
          </a:prstGeom>
          <a:solidFill>
            <a:srgbClr val="17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73" name="TextBox 172"/>
          <p:cNvSpPr txBox="1"/>
          <p:nvPr/>
        </p:nvSpPr>
        <p:spPr>
          <a:xfrm>
            <a:off x="841248" y="47347632"/>
            <a:ext cx="8110727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Nunito Sans"/>
              </a:defRPr>
            </a:pPr>
            <a:r>
              <a:t>HAVE A QUESTION?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41248" y="47841408"/>
            <a:ext cx="8915400" cy="3840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FFFFFF"/>
                </a:solidFill>
                <a:latin typeface="Nunito Sans"/>
              </a:defRPr>
            </a:pPr>
            <a:r>
              <a:t>WhatsApp: +370 628 05 196 • Celkasr22@lcc.lt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41248" y="48348000"/>
            <a:ext cx="8961120" cy="46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7E9F1"/>
                </a:solidFill>
                <a:latin typeface="Nunito Sans"/>
              </a:defRPr>
            </a:pPr>
            <a:r>
              <a:t>Sources: Elkasri survey (2026); Regulation (EU) 2018/644.</a:t>
            </a:r>
          </a:p>
          <a:p>
            <a:pPr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7E9F1"/>
                </a:solidFill>
                <a:latin typeface="Nunito Sans"/>
              </a:defRPr>
            </a:pPr>
            <a:r>
              <a:t>Full references via QR. Design contact: Chaymae Elkasri / Celkasr22@lcc.lt.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277856" y="47183040"/>
            <a:ext cx="1856231" cy="2651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91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unito Sans"/>
              </a:defRPr>
            </a:pPr>
            <a:r>
              <a:t>REFERENCES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2618720" y="47183040"/>
            <a:ext cx="1874519" cy="2651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91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unito Sans"/>
              </a:defRPr>
            </a:pPr>
            <a:r>
              <a:t>WHATSAPP</a:t>
            </a:r>
          </a:p>
        </p:txBody>
      </p:sp>
      <p:sp>
        <p:nvSpPr>
          <p:cNvPr id="180" name="Right Arrow 179"/>
          <p:cNvSpPr/>
          <p:nvPr/>
        </p:nvSpPr>
        <p:spPr>
          <a:xfrm>
            <a:off x="6984000" y="14292000"/>
            <a:ext cx="540000" cy="360000"/>
          </a:xfrm>
          <a:prstGeom prst="rightArrow">
            <a:avLst/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950400" y="25992000"/>
            <a:ext cx="6192000" cy="360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23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97A"/>
                </a:solidFill>
                <a:latin typeface="Nunito Sans"/>
              </a:defRPr>
            </a:pPr>
            <a:r>
              <a:t>Mean score / five-point scale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862400" y="25992000"/>
            <a:ext cx="6264000" cy="360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23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97A"/>
                </a:solidFill>
                <a:latin typeface="Nunito Sans"/>
              </a:defRPr>
            </a:pPr>
            <a:r>
              <a:t>Pearson correlation / r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744000" y="30888000"/>
            <a:ext cx="720000" cy="360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91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97A"/>
                </a:solidFill>
                <a:latin typeface="Nunito Sans"/>
              </a:defRPr>
            </a:pPr>
            <a:r>
              <a:t>0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084000" y="30888000"/>
            <a:ext cx="720000" cy="360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91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97A"/>
                </a:solidFill>
                <a:latin typeface="Nunito Sans"/>
              </a:defRPr>
            </a:pPr>
            <a:r>
              <a:t>5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0656000" y="30888000"/>
            <a:ext cx="720000" cy="360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91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97A"/>
                </a:solidFill>
                <a:latin typeface="Nunito Sans"/>
              </a:defRPr>
            </a:pPr>
            <a:r>
              <a:t>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3104000" y="30888000"/>
            <a:ext cx="720000" cy="360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91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97A"/>
                </a:solidFill>
                <a:latin typeface="Nunito Sans"/>
              </a:defRPr>
            </a:pPr>
            <a: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72000" y="32328000"/>
            <a:ext cx="12960000" cy="360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23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97A"/>
                </a:solidFill>
                <a:latin typeface="Nunito Sans"/>
              </a:defRPr>
            </a:pPr>
            <a:r>
              <a:t>Share selecting each dimension as their top priority / n = 60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912000" y="36936000"/>
            <a:ext cx="1080000" cy="360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91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97A"/>
                </a:solidFill>
                <a:latin typeface="Nunito Sans"/>
              </a:defRPr>
            </a:pPr>
            <a:r>
              <a:t>0%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1088000" y="36936000"/>
            <a:ext cx="1080000" cy="360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91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97A"/>
                </a:solidFill>
                <a:latin typeface="Nunito Sans"/>
              </a:defRPr>
            </a:pPr>
            <a:r>
              <a:t>40%</a:t>
            </a:r>
          </a:p>
        </p:txBody>
      </p:sp>
      <p:pic>
        <p:nvPicPr>
          <p:cNvPr id="190" name="Picture 189" descr="References_Q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9608" y="47484792"/>
            <a:ext cx="1307592" cy="1307592"/>
          </a:xfrm>
          <a:prstGeom prst="rect">
            <a:avLst/>
          </a:prstGeom>
        </p:spPr>
      </p:pic>
      <p:pic>
        <p:nvPicPr>
          <p:cNvPr id="191" name="Picture 190" descr="WhatsApp_Q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93040" y="47484792"/>
            <a:ext cx="1307592" cy="130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522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614</Words>
  <Application>Microsoft Office PowerPoint</Application>
  <PresentationFormat>Benutzerdefiniert</PresentationFormat>
  <Paragraphs>24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Nunito Sans</vt:lpstr>
      <vt:lpstr>Office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not the quality? — Economy &amp; Finance policy poster</dc:title>
  <dc:creator>Chaymae Elkasri</dc:creator>
  <cp:lastModifiedBy>Ingo Markert</cp:lastModifiedBy>
  <cp:revision>27</cp:revision>
  <dcterms:created xsi:type="dcterms:W3CDTF">2026-04-05T15:04:42Z</dcterms:created>
  <dcterms:modified xsi:type="dcterms:W3CDTF">2026-09-17T18:35:11Z</dcterms:modified>
</cp:coreProperties>
</file>